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660" r:id="rId2"/>
  </p:sldMasterIdLst>
  <p:notesMasterIdLst>
    <p:notesMasterId r:id="rId20"/>
  </p:notesMasterIdLst>
  <p:sldIdLst>
    <p:sldId id="261" r:id="rId3"/>
    <p:sldId id="328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40" r:id="rId14"/>
    <p:sldId id="341" r:id="rId15"/>
    <p:sldId id="343" r:id="rId16"/>
    <p:sldId id="339" r:id="rId17"/>
    <p:sldId id="342" r:id="rId18"/>
    <p:sldId id="32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FA8D5F-86FC-FF78-68DF-296C943650AC}" v="36" dt="2025-11-12T09:10:22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B3B-E091-4218-B734-7F09C964D9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2D287-CFE8-45F7-B578-1940EAB6B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1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20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56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88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6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5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36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9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54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17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9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83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3456"/>
            <a:ext cx="12218977" cy="521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44B71D63-CC8F-7D5C-C54F-0439C001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25814"/>
            <a:ext cx="571499" cy="365125"/>
          </a:xfr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3E60720-4643-2A6C-4283-9BD3505F1DFE}"/>
              </a:ext>
            </a:extLst>
          </p:cNvPr>
          <p:cNvSpPr txBox="1">
            <a:spLocks/>
          </p:cNvSpPr>
          <p:nvPr userDrawn="1"/>
        </p:nvSpPr>
        <p:spPr>
          <a:xfrm>
            <a:off x="401263" y="6525813"/>
            <a:ext cx="1587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6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06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5102634" y="1562215"/>
            <a:ext cx="611805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Segoe UI"/>
                <a:cs typeface="Segoe UI"/>
              </a:rPr>
              <a:t>Enhancing Rural Healthcare: An AI System for Lung Nodule Screening in Health ATMs</a:t>
            </a:r>
            <a:endParaRPr lang="en-US" sz="28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2AFA7-A803-1602-35C8-C21ED8130634}"/>
              </a:ext>
            </a:extLst>
          </p:cNvPr>
          <p:cNvSpPr txBox="1"/>
          <p:nvPr/>
        </p:nvSpPr>
        <p:spPr>
          <a:xfrm>
            <a:off x="6617669" y="4954823"/>
            <a:ext cx="344317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Dinesh     AM.EN.U4CSE22215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Kowshik  AM.EN.U4CSE22245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      AM.EN.U4CSE22257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Teja          AM.EN.U4CSE22271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1EF1F-2300-829E-6E9B-9FE25D611E45}"/>
              </a:ext>
            </a:extLst>
          </p:cNvPr>
          <p:cNvSpPr txBox="1"/>
          <p:nvPr/>
        </p:nvSpPr>
        <p:spPr>
          <a:xfrm>
            <a:off x="6268046" y="3870094"/>
            <a:ext cx="37927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Dr Simi Surendran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B7946-4A61-F0D4-E3EF-98A28275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Problem Definition</a:t>
            </a:r>
          </a:p>
          <a:p>
            <a:r>
              <a:rPr lang="en-IN" dirty="0"/>
              <a:t>Literature Review Summary</a:t>
            </a:r>
          </a:p>
          <a:p>
            <a:r>
              <a:rPr lang="en-IN" dirty="0"/>
              <a:t>Research Gap</a:t>
            </a:r>
          </a:p>
          <a:p>
            <a:r>
              <a:rPr lang="en-IN" dirty="0"/>
              <a:t>Design/ Architecture</a:t>
            </a:r>
          </a:p>
          <a:p>
            <a:r>
              <a:rPr lang="en-IN" dirty="0"/>
              <a:t>Algorithms (if any)</a:t>
            </a:r>
          </a:p>
          <a:p>
            <a:r>
              <a:rPr lang="en-IN" dirty="0"/>
              <a:t>Result Analysis</a:t>
            </a:r>
          </a:p>
          <a:p>
            <a:r>
              <a:rPr lang="en-IN" dirty="0"/>
              <a:t>Phase II plan</a:t>
            </a:r>
          </a:p>
          <a:p>
            <a:r>
              <a:rPr lang="en-IN" dirty="0">
                <a:latin typeface="Georgia"/>
              </a:rPr>
              <a:t>Reference</a:t>
            </a:r>
          </a:p>
          <a:p>
            <a:r>
              <a:rPr lang="en-IN" dirty="0">
                <a:latin typeface="Georgia"/>
              </a:rPr>
              <a:t>Approval from the Project Guide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F80A38-C040-884E-9416-3B2C3AC0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94FFD-4989-522F-352B-AB6F2C397014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68330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B11762-EF02-0F36-689D-E231961F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785542"/>
            <a:ext cx="11209376" cy="4640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AFFEC-15B1-EFF0-5114-A282E712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75B91A-84DF-27E2-7EB8-4F98D07EF0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499" y="1504232"/>
            <a:ext cx="1066546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This project focuses on improving early lung cancer screening in remote and rural areas.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We developed a lightweight AI system that can detect and classify lung nodules directly on Health ATMs, even in low-power and low-connectivity settings.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To build trust and support decision-making, the system provides visual explanations using Grad-CAM and generates both technical and patient-friendly reports using an LLM.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With a simple interface and telemedicine support, this solution aims to make reliable lung cancer screening more accessible to underserved communities.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37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C15A9C-64BD-B5E0-23F1-D681E4C6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Early lung cancer detection in rural India remains challenging due to a shortage of radiologists, poor connectivity, and inconsistent reporting standards. Although AI-based lung nodule systems show high sensitivity, they often fail to generalize across settings, struggle with false positives, and lack support for multilingual, clinically grounded reporting or FHIR/ABDM compliance. There is a need for a </a:t>
            </a:r>
            <a:r>
              <a:rPr lang="en-US" b="1" dirty="0"/>
              <a:t>software-only, rural-ready Lung-CT solution</a:t>
            </a:r>
            <a:r>
              <a:rPr lang="en-US" dirty="0"/>
              <a:t> that is accurate, explainable, offline-capable, and interoperable—bridging raw CT images to reliable clinical decisions and patient-friendly summaries.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A9569A-8578-E718-B914-9E556801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AC300-2BC7-25B1-2200-F06038D4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4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9022AA-5CD8-B1D5-28F8-ACA4529DB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5161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1. Systematic Review of DL for Pulmonary Nodules (European Radiology, 2024/25)</a:t>
            </a:r>
          </a:p>
          <a:p>
            <a:r>
              <a:rPr lang="en-IN" sz="1800" dirty="0"/>
              <a:t>Highlights inconsistencies in datasets, metrics, and validation across nodule detection/segmentation studies.</a:t>
            </a:r>
          </a:p>
          <a:p>
            <a:r>
              <a:rPr lang="en-IN" sz="1800" dirty="0"/>
              <a:t>Emphasizes need for </a:t>
            </a:r>
            <a:r>
              <a:rPr lang="en-IN" sz="1800" b="1" dirty="0"/>
              <a:t>external validation</a:t>
            </a:r>
            <a:r>
              <a:rPr lang="en-IN" sz="1800" dirty="0"/>
              <a:t>, standardized metrics (FROC, CPM, Dice, AUC), and bias assessment.</a:t>
            </a:r>
          </a:p>
          <a:p>
            <a:r>
              <a:rPr lang="en-IN" sz="1800" dirty="0"/>
              <a:t>Limitation: purely a survey with </a:t>
            </a:r>
            <a:r>
              <a:rPr lang="en-IN" sz="1800" b="1" dirty="0"/>
              <a:t>no deployment or model evidence</a:t>
            </a:r>
            <a:r>
              <a:rPr lang="en-IN" sz="1800" dirty="0"/>
              <a:t>.</a:t>
            </a:r>
          </a:p>
          <a:p>
            <a:r>
              <a:rPr lang="en-IN" sz="1800" b="1" dirty="0"/>
              <a:t>Relevance:</a:t>
            </a:r>
            <a:r>
              <a:rPr lang="en-IN" sz="1800" dirty="0"/>
              <a:t> Guides our unified evaluation strategy, calibration, and external hold-out testing.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2. DL for Benign/Malignant Nodule Detection in Routine CT (Communications Medicine – Nature, 2023)</a:t>
            </a:r>
          </a:p>
          <a:p>
            <a:r>
              <a:rPr lang="en-IN" sz="1800" dirty="0"/>
              <a:t>Demonstrates clinically validated, two-stage detection + malignancy workflow on real hospital CT scans.</a:t>
            </a:r>
          </a:p>
          <a:p>
            <a:r>
              <a:rPr lang="en-IN" sz="1800" dirty="0"/>
              <a:t>Provides realistic benchmarks for </a:t>
            </a:r>
            <a:r>
              <a:rPr lang="en-IN" sz="1800" b="1" dirty="0"/>
              <a:t>sensitivity vs false positives (~1 FP/scan)</a:t>
            </a:r>
            <a:r>
              <a:rPr lang="en-IN" sz="1800" dirty="0"/>
              <a:t>.</a:t>
            </a:r>
          </a:p>
          <a:p>
            <a:r>
              <a:rPr lang="en-IN" sz="1800" dirty="0"/>
              <a:t>Limitation: designed for high-resource hospital setups; no multilingual or FHIR/ABDM support.</a:t>
            </a:r>
          </a:p>
          <a:p>
            <a:r>
              <a:rPr lang="en-IN" sz="1800" b="1" dirty="0"/>
              <a:t>Relevance:</a:t>
            </a:r>
            <a:r>
              <a:rPr lang="en-IN" sz="1800" dirty="0"/>
              <a:t> We adopt FP-reduction, uncertainty routing, and compression for </a:t>
            </a:r>
            <a:r>
              <a:rPr lang="en-IN" sz="1800" b="1" dirty="0"/>
              <a:t>edge/offline deployment</a:t>
            </a:r>
            <a:r>
              <a:rPr lang="en-IN" sz="1800" dirty="0"/>
              <a:t>.</a:t>
            </a:r>
          </a:p>
          <a:p>
            <a:endParaRPr lang="en-IN" sz="1800" dirty="0"/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97AD1C-7A39-1B21-5997-CC46892F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19782"/>
            <a:ext cx="11209376" cy="464000"/>
          </a:xfrm>
        </p:spPr>
        <p:txBody>
          <a:bodyPr/>
          <a:lstStyle/>
          <a:p>
            <a:r>
              <a:rPr lang="en-IN" dirty="0"/>
              <a:t>Literature Review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B0D33-075B-F705-29BC-50FCD54D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7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72C4CA-BD6E-CD36-D76B-AAEE1809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741680"/>
            <a:ext cx="11209376" cy="5303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3. </a:t>
            </a:r>
            <a:r>
              <a:rPr lang="en-US" sz="2000" b="1" dirty="0" err="1"/>
              <a:t>LNDb</a:t>
            </a:r>
            <a:r>
              <a:rPr lang="en-US" sz="2000" b="1" dirty="0"/>
              <a:t> v4 – Paired CT + Reports + Manual Nodule Masks (Scientific Data – Nature, 2024)</a:t>
            </a:r>
          </a:p>
          <a:p>
            <a:r>
              <a:rPr lang="en-US" sz="2000" dirty="0"/>
              <a:t>Supplies CT images aligned with reports, masks, and nodule attributes (count/size/lobe).</a:t>
            </a:r>
          </a:p>
          <a:p>
            <a:r>
              <a:rPr lang="en-US" sz="2000" dirty="0"/>
              <a:t>Enables </a:t>
            </a:r>
            <a:r>
              <a:rPr lang="en-US" sz="2000" b="1" dirty="0"/>
              <a:t>factuality evaluation and </a:t>
            </a:r>
            <a:r>
              <a:rPr lang="en-US" sz="2000" b="1" dirty="0" err="1"/>
              <a:t>image↔text</a:t>
            </a:r>
            <a:r>
              <a:rPr lang="en-US" sz="2000" b="1" dirty="0"/>
              <a:t> grounding</a:t>
            </a:r>
            <a:r>
              <a:rPr lang="en-US" sz="2000" dirty="0"/>
              <a:t> for reporting modules.</a:t>
            </a:r>
          </a:p>
          <a:p>
            <a:r>
              <a:rPr lang="en-US" sz="2000" dirty="0"/>
              <a:t>Limitation: small cohort, single-region, English-only.</a:t>
            </a:r>
          </a:p>
          <a:p>
            <a:r>
              <a:rPr lang="en-US" sz="2000" b="1" dirty="0"/>
              <a:t>Relevance:</a:t>
            </a:r>
            <a:r>
              <a:rPr lang="en-US" sz="2000" dirty="0"/>
              <a:t> Used to validate our LLM-generated reports and cross-check segmentation outputs.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4. AI in Lung Cancer Screening: Detection to Prognosis (Cancer Medicine, 2024)</a:t>
            </a:r>
          </a:p>
          <a:p>
            <a:r>
              <a:rPr lang="en-US" sz="2000" dirty="0"/>
              <a:t>Summarizes end-to-end screening workflows and identifies key blockers:</a:t>
            </a:r>
            <a:br>
              <a:rPr lang="en-US" sz="2000" dirty="0"/>
            </a:br>
            <a:r>
              <a:rPr lang="en-US" sz="2000" dirty="0"/>
              <a:t>generalization, explainability, workflow integration.</a:t>
            </a:r>
          </a:p>
          <a:p>
            <a:r>
              <a:rPr lang="en-US" sz="2000" dirty="0"/>
              <a:t>Limitation: narrative review with </a:t>
            </a:r>
            <a:r>
              <a:rPr lang="en-US" sz="2000" b="1" dirty="0"/>
              <a:t>no low-resource deployment guidance</a:t>
            </a:r>
            <a:r>
              <a:rPr lang="en-US" sz="2000" dirty="0"/>
              <a:t>.</a:t>
            </a:r>
          </a:p>
          <a:p>
            <a:r>
              <a:rPr lang="en-US" sz="2000" b="1" dirty="0"/>
              <a:t>Relevance:</a:t>
            </a:r>
            <a:r>
              <a:rPr lang="en-US" sz="2000" dirty="0"/>
              <a:t> Motivates our focus on </a:t>
            </a:r>
            <a:r>
              <a:rPr lang="en-US" sz="2000" b="1" dirty="0"/>
              <a:t>explainability (mask + Grad-CAM + uncertainty)</a:t>
            </a:r>
            <a:r>
              <a:rPr lang="en-US" sz="2000" dirty="0"/>
              <a:t> and rural-ready FHIR/ABDM reporting.</a:t>
            </a:r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C32C-86B1-1007-3FC9-065AFDFE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32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556319-D11A-0AE6-D98F-1878C86D6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models show good sensitivity but poor generalization due to limited external validation.</a:t>
            </a:r>
          </a:p>
          <a:p>
            <a:r>
              <a:rPr lang="en-US" dirty="0"/>
              <a:t>High false positives make current systems unsuitable for low-expertise rural settings.</a:t>
            </a:r>
          </a:p>
          <a:p>
            <a:r>
              <a:rPr lang="en-US" dirty="0"/>
              <a:t>Most solutions lack explainability and factual, multilingual reporting linked to actual nodule findings.</a:t>
            </a:r>
          </a:p>
          <a:p>
            <a:r>
              <a:rPr lang="en-US" dirty="0"/>
              <a:t>Current AI pipelines offer no FHIR/ABDM interoperability, limiting integration with national health systems.</a:t>
            </a:r>
          </a:p>
          <a:p>
            <a:r>
              <a:rPr lang="en-US" dirty="0"/>
              <a:t>Systems are designed for hospitals, not offline, low-resource deployment like Health ATMs.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5824B9-B578-2AE5-E33E-9FC8038C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F087F-3AA7-7851-A35D-846CE8CD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3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E3EAC8-5820-4161-87BA-6B5CB17F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BE92A-6D36-E6EF-F254-D35C7264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28C5CC-45E0-4298-5589-3ACE60171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00" y="1519555"/>
            <a:ext cx="11209338" cy="414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63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B1A9F3-AD64-F228-C045-C5A48C62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2C2D2-3066-D8B0-AB5F-E2374033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8CFFFF-3488-D171-B6A2-0D3596ECA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93"/>
          <a:stretch/>
        </p:blipFill>
        <p:spPr bwMode="auto">
          <a:xfrm>
            <a:off x="571499" y="1136650"/>
            <a:ext cx="11071861" cy="49085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54245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5D7C2F-FFED-D208-8DCA-ABD3334F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F00CD-0A9D-44DE-5EE4-5429B93F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3347A5-4AC6-DA62-19F7-0FEF9D9F8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1"/>
          <a:stretch/>
        </p:blipFill>
        <p:spPr bwMode="auto">
          <a:xfrm>
            <a:off x="3343306" y="274320"/>
            <a:ext cx="7690454" cy="57708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6518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512B93-C20B-C434-61E6-DEC08D156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Core Functional Achievements</a:t>
            </a:r>
            <a:endParaRPr lang="en-IN" dirty="0"/>
          </a:p>
          <a:p>
            <a:r>
              <a:rPr lang="en-IN" sz="2200" dirty="0"/>
              <a:t>Complete Workflow: Successfully validated the path from </a:t>
            </a:r>
            <a:r>
              <a:rPr lang="en-IN" sz="2200" i="1" dirty="0"/>
              <a:t>DICOM Ingestion → Findings JSON → Reporting → FHIR Export.</a:t>
            </a:r>
          </a:p>
          <a:p>
            <a:r>
              <a:rPr lang="en-IN" sz="2200" b="1" i="1" dirty="0"/>
              <a:t>Backend Reliability</a:t>
            </a:r>
            <a:r>
              <a:rPr lang="en-IN" sz="2200" dirty="0"/>
              <a:t>: The system (built on </a:t>
            </a:r>
            <a:r>
              <a:rPr lang="en-IN" sz="2200" dirty="0" err="1"/>
              <a:t>FastAPI</a:t>
            </a:r>
            <a:r>
              <a:rPr lang="en-IN" sz="2200" dirty="0"/>
              <a:t> &amp; Redis Queue) demonstrated stable asynchronous task scheduling, artifact storage, and status polling.</a:t>
            </a:r>
          </a:p>
          <a:p>
            <a:r>
              <a:rPr lang="en-IN" sz="2200" b="1" i="1" dirty="0"/>
              <a:t>Robust Data Handling</a:t>
            </a:r>
            <a:r>
              <a:rPr lang="en-IN" sz="2200" dirty="0"/>
              <a:t>: Verified correct metadata parsing, Hounsfield Unit (HU) normalization, and error handling for corrupted DICOM inputs.</a:t>
            </a:r>
          </a:p>
          <a:p>
            <a:pPr marL="0" indent="0">
              <a:buNone/>
            </a:pPr>
            <a:r>
              <a:rPr lang="en-IN" b="1" dirty="0"/>
              <a:t>The "Findings JSON" Standard</a:t>
            </a:r>
            <a:endParaRPr lang="en-IN" dirty="0"/>
          </a:p>
          <a:p>
            <a:r>
              <a:rPr lang="en-IN" sz="2200" dirty="0"/>
              <a:t>Established a definitive schema to serve as the single source of truth for the AI pipeline.</a:t>
            </a:r>
          </a:p>
          <a:p>
            <a:r>
              <a:rPr lang="en-IN" sz="2200" b="1" i="1" dirty="0"/>
              <a:t>Structure</a:t>
            </a:r>
            <a:r>
              <a:rPr lang="en-IN" sz="2200" dirty="0"/>
              <a:t>: Encapsulates nodule metadata, anatomical info, segmentation references, and uncertainty scores.</a:t>
            </a:r>
          </a:p>
          <a:p>
            <a:r>
              <a:rPr lang="en-IN" sz="2200" b="1" i="1" dirty="0"/>
              <a:t>Purpose</a:t>
            </a:r>
            <a:r>
              <a:rPr lang="en-IN" sz="2200" dirty="0"/>
              <a:t>: Decouples inference from reporting, ensuring consistent outputs for both the UI and PDF generators.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9C3544-3B77-42BD-36C6-6D256A39E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Phase–1 Pipeline Validation &amp; Backend Architecture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E61B9-06A8-DB7D-BB2E-92428CCBD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1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ADF9E9-3E05-DA40-6E3D-8ECD82D13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Dual-Category Reporting</a:t>
            </a:r>
            <a:endParaRPr lang="en-IN" sz="2400" dirty="0"/>
          </a:p>
          <a:p>
            <a:r>
              <a:rPr lang="en-IN" sz="2000" b="1" dirty="0"/>
              <a:t>Clinician Reports:</a:t>
            </a:r>
            <a:r>
              <a:rPr lang="en-IN" sz="2000" dirty="0"/>
              <a:t> Technical, radiological focus with nodule-wise summaries and malignancy predictions.</a:t>
            </a:r>
          </a:p>
          <a:p>
            <a:r>
              <a:rPr lang="en-IN" sz="2000" b="1" dirty="0"/>
              <a:t>Patient Summaries:</a:t>
            </a:r>
            <a:r>
              <a:rPr lang="en-IN" sz="2000" dirty="0"/>
              <a:t> Simplified, jargon-free explanations generated in English, Hindi, and native languages (via NLLB-200).</a:t>
            </a:r>
          </a:p>
          <a:p>
            <a:r>
              <a:rPr lang="en-IN" sz="2000" b="1" dirty="0"/>
              <a:t>Zero Hallucination:</a:t>
            </a:r>
            <a:r>
              <a:rPr lang="en-IN" sz="2000" dirty="0"/>
              <a:t> All report content is strictly grounded in the Findings JSON to ensure factual accuracy.</a:t>
            </a:r>
          </a:p>
          <a:p>
            <a:pPr marL="0" indent="0">
              <a:buNone/>
            </a:pPr>
            <a:r>
              <a:rPr lang="en-IN" sz="2400" b="1" dirty="0"/>
              <a:t>Frontend &amp; Standards Compliance</a:t>
            </a:r>
            <a:endParaRPr lang="en-IN" sz="2400" dirty="0"/>
          </a:p>
          <a:p>
            <a:r>
              <a:rPr lang="en-IN" sz="2000" b="1" dirty="0"/>
              <a:t>UI Prototype:</a:t>
            </a:r>
            <a:r>
              <a:rPr lang="en-IN" sz="2000" dirty="0"/>
              <a:t> </a:t>
            </a:r>
            <a:r>
              <a:rPr lang="en-IN" sz="2000" dirty="0" err="1"/>
              <a:t>Streamlit</a:t>
            </a:r>
            <a:r>
              <a:rPr lang="en-IN" sz="2000" dirty="0"/>
              <a:t>-based interface validated for slice navigation, mask overlays, and artifact downloading.</a:t>
            </a:r>
          </a:p>
          <a:p>
            <a:r>
              <a:rPr lang="en-IN" sz="2000" b="1" dirty="0"/>
              <a:t>Interoperability:</a:t>
            </a:r>
            <a:r>
              <a:rPr lang="en-IN" sz="2000" dirty="0"/>
              <a:t> Successful generation of </a:t>
            </a:r>
            <a:r>
              <a:rPr lang="en-IN" sz="2000" b="1" dirty="0"/>
              <a:t>FHIR R4 bundles</a:t>
            </a:r>
            <a:r>
              <a:rPr lang="en-IN" sz="2000" dirty="0"/>
              <a:t> (</a:t>
            </a:r>
            <a:r>
              <a:rPr lang="en-IN" sz="2000" dirty="0" err="1"/>
              <a:t>DiagnosticReport</a:t>
            </a:r>
            <a:r>
              <a:rPr lang="en-IN" sz="2000" dirty="0"/>
              <a:t> &amp; </a:t>
            </a:r>
            <a:r>
              <a:rPr lang="en-IN" sz="2000" dirty="0" err="1"/>
              <a:t>ImagingStudy</a:t>
            </a:r>
            <a:r>
              <a:rPr lang="en-IN" sz="2000" dirty="0"/>
              <a:t>) aligned with ABDM recommendations.</a:t>
            </a:r>
          </a:p>
          <a:p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C6D19B-8BAE-42DF-71AF-D7383E2F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Multilingual Reporting &amp; User Interface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BECB6-BA80-08FA-DD05-B97F7C1B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81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1A924E-D552-C179-CBDF-32332A68C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Explainability (XAI) Hooks</a:t>
            </a:r>
            <a:endParaRPr lang="en-US" sz="2400" dirty="0"/>
          </a:p>
          <a:p>
            <a:r>
              <a:rPr lang="en-US" sz="2000" dirty="0"/>
              <a:t>While full model training is scheduled for Phase–2, the architectural structure for XAI is complete.</a:t>
            </a:r>
          </a:p>
          <a:p>
            <a:r>
              <a:rPr lang="en-US" sz="2000" b="1" dirty="0"/>
              <a:t>Integration:</a:t>
            </a:r>
            <a:r>
              <a:rPr lang="en-US" sz="2000" dirty="0"/>
              <a:t> JSON schema now reserves fields for Grad-CAM++ heatmaps, </a:t>
            </a:r>
            <a:r>
              <a:rPr lang="en-US" sz="2000" dirty="0" err="1"/>
              <a:t>IoU</a:t>
            </a:r>
            <a:r>
              <a:rPr lang="en-US" sz="2000" dirty="0"/>
              <a:t> scores, and uncertainty metrics (confidence levels/review flags).</a:t>
            </a:r>
          </a:p>
          <a:p>
            <a:pPr marL="0" indent="0">
              <a:buNone/>
            </a:pPr>
            <a:r>
              <a:rPr lang="en-US" sz="2400" b="1" dirty="0"/>
              <a:t>Performance Profile (Phase–1)</a:t>
            </a:r>
            <a:endParaRPr lang="en-US" sz="2400" dirty="0"/>
          </a:p>
          <a:p>
            <a:r>
              <a:rPr lang="en-US" sz="2000" b="1" dirty="0"/>
              <a:t>Latency:</a:t>
            </a:r>
            <a:r>
              <a:rPr lang="en-US" sz="2000" dirty="0"/>
              <a:t> The synthetic pipeline achieves an end-to-end execution time of </a:t>
            </a:r>
            <a:r>
              <a:rPr lang="en-US" sz="2000" b="1" dirty="0"/>
              <a:t>&lt; 1 second</a:t>
            </a:r>
            <a:r>
              <a:rPr lang="en-US" sz="2000" dirty="0"/>
              <a:t>, with PDF generation completing in 300–500ms.</a:t>
            </a:r>
          </a:p>
          <a:p>
            <a:r>
              <a:rPr lang="en-US" sz="2000" b="1" dirty="0"/>
              <a:t>Stability:</a:t>
            </a:r>
            <a:r>
              <a:rPr lang="en-US" sz="2000" dirty="0"/>
              <a:t> Functional testing confirmed stable execution without failures during schema validation or document rendering.</a:t>
            </a:r>
          </a:p>
          <a:p>
            <a:r>
              <a:rPr lang="en-US" sz="2000" b="1" dirty="0"/>
              <a:t>Conclusion:</a:t>
            </a:r>
            <a:r>
              <a:rPr lang="en-US" sz="2000" dirty="0"/>
              <a:t> The system architecture is fully operational and optimized to support the quantitative deep learning models in the upcoming phase.</a:t>
            </a:r>
          </a:p>
          <a:p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C748E4-9449-DD46-3525-127E979C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Explainability Integration &amp; Performance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98DF4-E1B5-DFEA-882E-B8DC46DB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60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9B05F-C9B3-32EC-B615-FF021B59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6C6B36-169F-77D3-8B33-AA4B478B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Generated Reports (Phase-I Output)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42D82-6E0F-C6EE-20A4-A9C10C4A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B0B7FF8-E0F9-AE35-FA5F-A9CF438973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48" y="1064816"/>
            <a:ext cx="4019932" cy="49888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61C914-1815-3147-314D-8C38C7BC3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64817"/>
            <a:ext cx="3939215" cy="49888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4063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7256C5-D4C9-E7D9-91EE-EFCFC482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218536"/>
            <a:ext cx="11209376" cy="4908082"/>
          </a:xfrm>
        </p:spPr>
        <p:txBody>
          <a:bodyPr/>
          <a:lstStyle/>
          <a:p>
            <a:r>
              <a:rPr lang="en-IN" dirty="0"/>
              <a:t>Edge Optimization: Improve INT8 quantization, profiling, and offline-first stability to achieve &lt;60s analysis on mid-range GPUs.</a:t>
            </a:r>
          </a:p>
          <a:p>
            <a:r>
              <a:rPr lang="en-IN" dirty="0"/>
              <a:t>Clinical &amp; User Validation: Conduct a ~50-case radiologist study and patient usability testing for explainability and bilingual reports.</a:t>
            </a:r>
          </a:p>
          <a:p>
            <a:r>
              <a:rPr lang="en-IN" dirty="0"/>
              <a:t>ABDM/FHIR Compliance: Finalize and validate </a:t>
            </a:r>
            <a:r>
              <a:rPr lang="en-IN" dirty="0" err="1"/>
              <a:t>DiagnosticReport</a:t>
            </a:r>
            <a:r>
              <a:rPr lang="en-IN" dirty="0"/>
              <a:t> and </a:t>
            </a:r>
            <a:r>
              <a:rPr lang="en-IN" dirty="0" err="1"/>
              <a:t>ImagingStudy</a:t>
            </a:r>
            <a:r>
              <a:rPr lang="en-IN" dirty="0"/>
              <a:t> exports in the ABDM sandbox.</a:t>
            </a:r>
          </a:p>
          <a:p>
            <a:r>
              <a:rPr lang="en-IN" dirty="0"/>
              <a:t>Deployment &amp; Publication: Prepare a release-ready software package with full documentation, reproducible pipelines, and a manuscript detailing system design and results.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6EBC34-97A4-C2AA-2480-B881CA52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II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81B6D-58FC-105B-E26D-CE0A426D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3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2B0D20-2087-CFE8-039E-49EB1ADA1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 learning in pulmonary nodule detection and segmentation: a systematic review (European Radiology, 2024/25)	</a:t>
            </a:r>
          </a:p>
          <a:p>
            <a:r>
              <a:rPr lang="en-IN" dirty="0"/>
              <a:t>Deep learning for the detection of benign and malignant pulmonary nodules in non-screening chest CT (Communications Medicine, 2023)</a:t>
            </a:r>
          </a:p>
          <a:p>
            <a:r>
              <a:rPr lang="en-IN" dirty="0" err="1"/>
              <a:t>LNDb</a:t>
            </a:r>
            <a:r>
              <a:rPr lang="en-IN" dirty="0"/>
              <a:t> v4: Pulmonary nodule annotation from medical reports with manual segmentation (Scientific Data, 2024)</a:t>
            </a:r>
          </a:p>
          <a:p>
            <a:r>
              <a:rPr lang="en-IN" dirty="0"/>
              <a:t>Artificial intelligence in lung cancer screening: Detection, classification, prediction, and prognosis (Cancer Medicine, 2024)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ECE77F-7C81-313E-6B11-78AE732EF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1E724-2E9B-0A80-B287-F16B7BF92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41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1F1C05F-2436-40E3-C05A-D116EDBF9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99" y="1164621"/>
            <a:ext cx="11209376" cy="48533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AFFA462-804B-6676-548F-26D90B4B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/>
              </a:rPr>
              <a:t>Approval from the project guide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DDAE5-8596-8516-B3BD-E80495CF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6952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LightSeed_2SEEDS">
      <a:dk1>
        <a:srgbClr val="000000"/>
      </a:dk1>
      <a:lt1>
        <a:srgbClr val="FFFFFF"/>
      </a:lt1>
      <a:dk2>
        <a:srgbClr val="243741"/>
      </a:dk2>
      <a:lt2>
        <a:srgbClr val="E2E5E8"/>
      </a:lt2>
      <a:accent1>
        <a:srgbClr val="BB9D7E"/>
      </a:accent1>
      <a:accent2>
        <a:srgbClr val="C59791"/>
      </a:accent2>
      <a:accent3>
        <a:srgbClr val="A5A27B"/>
      </a:accent3>
      <a:accent4>
        <a:srgbClr val="74ADA7"/>
      </a:accent4>
      <a:accent5>
        <a:srgbClr val="7EA7BB"/>
      </a:accent5>
      <a:accent6>
        <a:srgbClr val="7E8DBB"/>
      </a:accent6>
      <a:hlink>
        <a:srgbClr val="6184A9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2377</TotalTime>
  <Words>1197</Words>
  <Application>Microsoft Office PowerPoint</Application>
  <PresentationFormat>Widescreen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Batang</vt:lpstr>
      <vt:lpstr>Aptos</vt:lpstr>
      <vt:lpstr>Aptos Display</vt:lpstr>
      <vt:lpstr>Arial</vt:lpstr>
      <vt:lpstr>Avenir Next LT Pro Light</vt:lpstr>
      <vt:lpstr>Calibri</vt:lpstr>
      <vt:lpstr>Georgia</vt:lpstr>
      <vt:lpstr>Segoe UI</vt:lpstr>
      <vt:lpstr>Times New Roman</vt:lpstr>
      <vt:lpstr>AlignmentVTI</vt:lpstr>
      <vt:lpstr>office theme</vt:lpstr>
      <vt:lpstr>PowerPoint Presentation</vt:lpstr>
      <vt:lpstr>Outline</vt:lpstr>
      <vt:lpstr>Introduction</vt:lpstr>
      <vt:lpstr>Problem Definition</vt:lpstr>
      <vt:lpstr>Literature Review Summary</vt:lpstr>
      <vt:lpstr>PowerPoint Presentation</vt:lpstr>
      <vt:lpstr>Research gap</vt:lpstr>
      <vt:lpstr>Block Diagram</vt:lpstr>
      <vt:lpstr>Flow Diagram</vt:lpstr>
      <vt:lpstr>Architecture</vt:lpstr>
      <vt:lpstr>Phase–1 Pipeline Validation &amp; Backend Architecture</vt:lpstr>
      <vt:lpstr>Multilingual Reporting &amp; User Interface Results</vt:lpstr>
      <vt:lpstr>Explainability Integration &amp; Performance Metrics</vt:lpstr>
      <vt:lpstr>Generated Reports (Phase-I Output)</vt:lpstr>
      <vt:lpstr>Phase II Plan</vt:lpstr>
      <vt:lpstr>Reference</vt:lpstr>
      <vt:lpstr>Approval from the project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Sunitha EV</dc:creator>
  <cp:lastModifiedBy>padala kowshik</cp:lastModifiedBy>
  <cp:revision>502</cp:revision>
  <dcterms:created xsi:type="dcterms:W3CDTF">2025-02-06T04:27:38Z</dcterms:created>
  <dcterms:modified xsi:type="dcterms:W3CDTF">2025-11-28T17:58:08Z</dcterms:modified>
</cp:coreProperties>
</file>